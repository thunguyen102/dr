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47"/>
    <a:srgbClr val="00A84C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0279" autoAdjust="0"/>
  </p:normalViewPr>
  <p:slideViewPr>
    <p:cSldViewPr snapToGrid="0" snapToObjects="1">
      <p:cViewPr varScale="1">
        <p:scale>
          <a:sx n="102" d="100"/>
          <a:sy n="102" d="100"/>
        </p:scale>
        <p:origin x="3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61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Why QA Test Planning Skills?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700" b="0">
                <a:solidFill>
                  <a:srgbClr val="637792"/>
                </a:solidFill>
                <a:latin typeface="Aptos"/>
              </a:rPr>
              <a:t>Three challenges when starting a new feature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01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03003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0" y="2104755"/>
            <a:ext cx="987552" cy="987552"/>
          </a:xfrm>
          <a:prstGeom prst="ellipse">
            <a:avLst/>
          </a:prstGeom>
          <a:solidFill>
            <a:srgbClr val="FF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3849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Incomplete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21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03003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23560" y="2104755"/>
            <a:ext cx="987552" cy="987552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33849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Slow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8421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Exploration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803003"/>
            <a:ext cx="3639312" cy="3090672"/>
          </a:xfrm>
          <a:prstGeom prst="roundRect">
            <a:avLst/>
          </a:prstGeom>
          <a:solidFill>
            <a:srgbClr val="FFFFFF"/>
          </a:solidFill>
          <a:ln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418320" y="2104755"/>
            <a:ext cx="987552" cy="987552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33849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Missed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842115"/>
            <a:ext cx="345643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40563"/>
            <a:ext cx="11283696" cy="658368"/>
          </a:xfrm>
          <a:prstGeom prst="roundRect">
            <a:avLst/>
          </a:prstGeom>
          <a:solidFill>
            <a:srgbClr val="E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5296011"/>
            <a:ext cx="10835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78D8B"/>
                </a:solidFill>
                <a:latin typeface="Aptos"/>
              </a:rPr>
              <a:t>OUR GOAL   •   Clear, reviewable test cases backed by real UI evidence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324211"/>
            <a:ext cx="521207" cy="521207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324211"/>
            <a:ext cx="521207" cy="521207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324211"/>
            <a:ext cx="521207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612878"/>
            <a:ext cx="11247120" cy="45397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Two ways to start — one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52958"/>
            <a:ext cx="10972800" cy="256032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Choose the input you have. Both options follow the same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746734"/>
            <a:ext cx="1110996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1207" y="1746734"/>
            <a:ext cx="68580" cy="1426464"/>
          </a:xfrm>
          <a:prstGeom prst="rect">
            <a:avLst/>
          </a:prstGeom>
          <a:solidFill>
            <a:srgbClr val="2664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947902"/>
            <a:ext cx="2715768" cy="347472"/>
          </a:xfrm>
          <a:prstGeom prst="roundRect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025626"/>
            <a:ext cx="2487168" cy="219456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pPr>
              <a:defRPr sz="1000" b="1">
                <a:solidFill>
                  <a:srgbClr val="2664E7"/>
                </a:solidFill>
                <a:latin typeface="Aptos"/>
              </a:defRPr>
            </a:pPr>
            <a:r>
              <a:t>CASE A  ·  URL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05102"/>
            <a:ext cx="10515600" cy="384048"/>
          </a:xfrm>
          <a:prstGeom prst="rect">
            <a:avLst/>
          </a:prstGeom>
          <a:noFill/>
        </p:spPr>
        <p:txBody>
          <a:bodyPr wrap="none" lIns="0" tIns="22860" rIns="0" bIns="0">
            <a:spAutoFit/>
          </a:bodyPr>
          <a:lstStyle/>
          <a:p>
            <a:r>
              <a:rPr sz="1700" b="1">
                <a:solidFill>
                  <a:srgbClr val="142643"/>
                </a:solidFill>
                <a:latin typeface="Aptos"/>
              </a:rPr>
              <a:t>qa-gather-test-requirements &lt;app-url&gt; &lt;feature&gt;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3529814"/>
            <a:ext cx="11109960" cy="1426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7" y="3529814"/>
            <a:ext cx="68580" cy="1426464"/>
          </a:xfrm>
          <a:prstGeom prst="rect">
            <a:avLst/>
          </a:prstGeom>
          <a:solidFill>
            <a:srgbClr val="008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8952" y="3730982"/>
            <a:ext cx="2715768" cy="347472"/>
          </a:xfrm>
          <a:prstGeom prst="roundRect">
            <a:avLst/>
          </a:prstGeom>
          <a:solidFill>
            <a:srgbClr val="E2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08706"/>
            <a:ext cx="2487168" cy="219456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pPr>
              <a:defRPr sz="1000" b="1">
                <a:solidFill>
                  <a:srgbClr val="008274"/>
                </a:solidFill>
                <a:latin typeface="Aptos"/>
              </a:defRPr>
            </a:pPr>
            <a:r>
              <a:t>CASE B  ·  DOCUMENT +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88182"/>
            <a:ext cx="10515600" cy="384048"/>
          </a:xfrm>
          <a:prstGeom prst="rect">
            <a:avLst/>
          </a:prstGeom>
          <a:noFill/>
        </p:spPr>
        <p:txBody>
          <a:bodyPr wrap="none" lIns="0" tIns="22860" rIns="0" bIns="0">
            <a:spAutoFit/>
          </a:bodyPr>
          <a:lstStyle/>
          <a:p>
            <a:r>
              <a:rPr sz="1700" b="1">
                <a:solidFill>
                  <a:srgbClr val="142643"/>
                </a:solidFill>
                <a:latin typeface="Aptos"/>
              </a:rPr>
              <a:t>qa-gather-test-requirements &lt;requirements-file.md&gt; &lt;app-url&gt; &lt;feature&gt;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41494"/>
            <a:ext cx="9902952" cy="603504"/>
          </a:xfrm>
          <a:prstGeom prst="roundRect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5687798"/>
            <a:ext cx="9418320" cy="27432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pPr algn="ctr">
              <a:defRPr sz="1500" b="1">
                <a:solidFill>
                  <a:srgbClr val="2664E7"/>
                </a:solidFill>
                <a:latin typeface="Aptos"/>
              </a:defRPr>
            </a:pPr>
            <a:r>
              <a:t>Finish each phase → Review the files → Type “next” to continue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92240"/>
            <a:ext cx="868680" cy="228600"/>
          </a:xfrm>
          <a:prstGeom prst="rect">
            <a:avLst/>
          </a:prstGeom>
          <a:noFill/>
        </p:spPr>
        <p:txBody>
          <a:bodyPr wrap="square" lIns="0" tIns="22860" rIns="0" bIns="0">
            <a:spAutoFit/>
          </a:bodyPr>
          <a:lstStyle/>
          <a:p>
            <a:r>
              <a:t>02 /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2816582"/>
            <a:ext cx="10451592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/>
              <a:t>Explores the real UI, checks validations, and collects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" y="4599662"/>
            <a:ext cx="10451592" cy="25603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400"/>
              <a:t>Compares the document with the real UI to find business rules and differences.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993622"/>
            <a:ext cx="246888" cy="246888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3776702"/>
            <a:ext cx="246888" cy="246888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36D51F39-0F59-C886-952C-C82E70CDC496}"/>
              </a:ext>
            </a:extLst>
          </p:cNvPr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Four-Step Workflow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 → Verify evidence → Analyze → Plan → Generate test cases.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03 / 08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096796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E8F5F2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" y="22613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253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" y="27460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qa-explore-real-ui</a:t>
            </a:r>
            <a:endParaRPr lang="en-US" sz="1050" b="1" dirty="0"/>
          </a:p>
        </p:txBody>
      </p:sp>
      <p:sp>
        <p:nvSpPr>
          <p:cNvPr id="11" name="Shape 9"/>
          <p:cNvSpPr/>
          <p:nvPr/>
        </p:nvSpPr>
        <p:spPr>
          <a:xfrm>
            <a:off x="3218688" y="2608860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83280" y="2096796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38728" y="22613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22776" y="2253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547872" y="27460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6099048" y="2608860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263640" y="2096796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19088" y="22613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2253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Plan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28232" y="27460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qa-generate-test-plan</a:t>
            </a:r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8979408" y="2608860"/>
            <a:ext cx="146304" cy="0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44000" y="2096796"/>
            <a:ext cx="2697480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299448" y="22613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83496" y="22534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Cases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308592" y="2746020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qa-generate-testcases</a:t>
            </a:r>
            <a:endParaRPr lang="en-US" sz="1100" b="1" dirty="0"/>
          </a:p>
        </p:txBody>
      </p:sp>
      <p:sp>
        <p:nvSpPr>
          <p:cNvPr id="26" name="Shape 24"/>
          <p:cNvSpPr/>
          <p:nvPr/>
        </p:nvSpPr>
        <p:spPr>
          <a:xfrm>
            <a:off x="685799" y="3596412"/>
            <a:ext cx="2265605" cy="877824"/>
          </a:xfrm>
          <a:prstGeom prst="roundRect">
            <a:avLst>
              <a:gd name="adj" fmla="val 15625"/>
            </a:avLst>
          </a:prstGeom>
          <a:solidFill>
            <a:srgbClr val="EAF1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4672" y="3715284"/>
            <a:ext cx="1938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UI evidence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40901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Gate </a:t>
            </a:r>
            <a:r>
              <a:rPr lang="en-US" sz="105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automatic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810512" y="3120924"/>
            <a:ext cx="0" cy="448056"/>
          </a:xfrm>
          <a:prstGeom prst="line">
            <a:avLst/>
          </a:prstGeom>
          <a:noFill/>
          <a:ln w="25400">
            <a:solidFill>
              <a:srgbClr val="1967D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5800" y="4766844"/>
            <a:ext cx="2267712" cy="502920"/>
          </a:xfrm>
          <a:prstGeom prst="roundRect">
            <a:avLst>
              <a:gd name="adj" fmla="val 27273"/>
            </a:avLst>
          </a:prstGeom>
          <a:solidFill>
            <a:srgbClr val="FEF0E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5800" y="4858284"/>
            <a:ext cx="226560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4B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→ Re-explore UI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83280" y="3623844"/>
            <a:ext cx="8275320" cy="950976"/>
          </a:xfrm>
          <a:prstGeom prst="roundRect">
            <a:avLst>
              <a:gd name="adj" fmla="val 14423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3593592" y="37975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09E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r>
              <a:rPr lang="en-US" sz="17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</a:t>
            </a:r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evidence and continue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584448" y="41816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steps check the saved evidence again before using it.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46120" y="5123460"/>
            <a:ext cx="8348472" cy="621792"/>
          </a:xfrm>
          <a:prstGeom prst="roundRect">
            <a:avLst>
              <a:gd name="adj" fmla="val 22059"/>
            </a:avLst>
          </a:prstGeom>
          <a:solidFill>
            <a:srgbClr val="E7F5F1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3566160" y="5233188"/>
            <a:ext cx="7845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Outputs: UI evidence → Requirements analysis → Test plan → Test cases</a:t>
            </a:r>
            <a:endParaRPr lang="en-US" sz="1500" dirty="0"/>
          </a:p>
        </p:txBody>
      </p:sp>
      <p:cxnSp>
        <p:nvCxnSpPr>
          <p:cNvPr id="41" name="Connector 40"/>
          <p:cNvCxnSpPr/>
          <p:nvPr/>
        </p:nvCxnSpPr>
        <p:spPr>
          <a:xfrm>
            <a:off x="2951406" y="4035324"/>
            <a:ext cx="402336" cy="0"/>
          </a:xfrm>
          <a:prstGeom prst="line">
            <a:avLst/>
          </a:prstGeom>
          <a:ln w="25400">
            <a:solidFill>
              <a:srgbClr val="1086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evron 41"/>
          <p:cNvSpPr/>
          <p:nvPr/>
        </p:nvSpPr>
        <p:spPr>
          <a:xfrm>
            <a:off x="3253158" y="3953028"/>
            <a:ext cx="146304" cy="164592"/>
          </a:xfrm>
          <a:prstGeom prst="chevron">
            <a:avLst/>
          </a:prstGeom>
          <a:solidFill>
            <a:srgbClr val="108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920" y="1630683"/>
            <a:ext cx="2240280" cy="301752"/>
          </a:xfrm>
          <a:prstGeom prst="roundRect">
            <a:avLst/>
          </a:prstGeom>
          <a:solidFill>
            <a:srgbClr val="E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14676E"/>
                </a:solidFill>
                <a:latin typeface="Aptos"/>
              </a:rPr>
              <a:t>1 STEP = 1 SKILL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2297964"/>
            <a:ext cx="274320" cy="27432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1352" y="2297964"/>
            <a:ext cx="274320" cy="27432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992" y="2297964"/>
            <a:ext cx="274320" cy="27432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632" y="2297964"/>
            <a:ext cx="274320" cy="27432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2222" y="3729000"/>
            <a:ext cx="246888" cy="246888"/>
          </a:xfrm>
          <a:prstGeom prst="rect">
            <a:avLst/>
          </a:prstGeom>
        </p:spPr>
      </p:pic>
      <p:sp>
        <p:nvSpPr>
          <p:cNvPr id="37" name="Shape 27">
            <a:extLst>
              <a:ext uri="{FF2B5EF4-FFF2-40B4-BE49-F238E27FC236}">
                <a16:creationId xmlns:a16="http://schemas.microsoft.com/office/drawing/2014/main" id="{EBDF0A27-AF9F-2159-1EB6-50D414138FDD}"/>
              </a:ext>
            </a:extLst>
          </p:cNvPr>
          <p:cNvSpPr/>
          <p:nvPr/>
        </p:nvSpPr>
        <p:spPr>
          <a:xfrm>
            <a:off x="1810512" y="4474236"/>
            <a:ext cx="0" cy="283464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 — Start with a URL only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command used for OrangeHRM / Recruitment → Vacancies.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04 / 08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11155680" cy="932688"/>
          </a:xfrm>
          <a:prstGeom prst="roundRect">
            <a:avLst>
              <a:gd name="adj" fmla="val 16854"/>
            </a:avLst>
          </a:prstGeom>
          <a:solidFill>
            <a:srgbClr val="13223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13232" y="1911095"/>
            <a:ext cx="10698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 https://opensource-demo.orangehrmlive.com/web/index.php/auth/login Vacancies with Username : Admin, Password : admin123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2926080"/>
            <a:ext cx="3803904" cy="2889504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29016" y="3218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run — URL only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29016" y="3602736"/>
            <a:ext cx="3273552" cy="1301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UI → Review output → Type “next”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76" y="318211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B — Add a document for the same feature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URL and Vacancies feature. We only add Recruitment_Module_Requirements.md.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05 / 08</a:t>
            </a:r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11155680" cy="932688"/>
          </a:xfrm>
          <a:prstGeom prst="roundRect">
            <a:avLst>
              <a:gd name="adj" fmla="val 16854"/>
            </a:avLst>
          </a:prstGeom>
          <a:solidFill>
            <a:srgbClr val="13223B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22376" y="1911095"/>
            <a:ext cx="10652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qa-gather-test-requirements "</a:t>
            </a:r>
            <a:r>
              <a:rPr lang="en-US" sz="130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C:\Desktop</a:t>
            </a: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\Recruitment_Module_Requirements.md" https://opensource-demo.orangehrmlive.com/web/index.php/auth/login Vacancies with Username : Admin, Password : admin123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63840" y="2926080"/>
            <a:ext cx="3803904" cy="288950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138160" y="3218688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322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document adds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8138160" y="3712464"/>
            <a:ext cx="3200400" cy="934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Compare rules with the real UI</a:t>
            </a:r>
          </a:p>
          <a:p>
            <a:r>
              <a:rPr sz="1600">
                <a:solidFill>
                  <a:schemeClr val="tx1">
                    <a:lumMod val="75000"/>
                    <a:lumOff val="25000"/>
                  </a:schemeClr>
                </a:solidFill>
              </a:rPr>
              <a:t>Highlight differences and open questions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232" y="3182112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Four output files — from UI evidence to test cases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0">
                <a:solidFill>
                  <a:srgbClr val="66778D"/>
                </a:solidFill>
                <a:latin typeface="Aptos"/>
              </a:rPr>
              <a:t>Four reviewable files. The final test cases support Phase 2.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06 / 08</a:t>
            </a:r>
          </a:p>
        </p:txBody>
      </p:sp>
      <p:sp>
        <p:nvSpPr>
          <p:cNvPr id="7" name="Shape 5"/>
          <p:cNvSpPr/>
          <p:nvPr/>
        </p:nvSpPr>
        <p:spPr>
          <a:xfrm>
            <a:off x="438437" y="1783080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5318" y="193126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ui-evidence.md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82112" y="1872642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UI behavior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437" y="2532888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5318" y="268107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requirements-analysis.md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2112" y="2622450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&amp; gaps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437" y="3282696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5318" y="343087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test-plan.md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182112" y="3372258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scope &amp; priority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437" y="4032504"/>
            <a:ext cx="5012793" cy="603504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5318" y="418068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test-cases.md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82112" y="4122066"/>
            <a:ext cx="19732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&amp; expected results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94360" y="5093208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screenshots + manifest.json</a:t>
            </a:r>
            <a:endParaRPr lang="en-US" sz="1500" dirty="0"/>
          </a:p>
        </p:txBody>
      </p:sp>
      <p:sp>
        <p:nvSpPr>
          <p:cNvPr id="26" name="Rounded Rectangle 25"/>
          <p:cNvSpPr/>
          <p:nvPr/>
        </p:nvSpPr>
        <p:spPr>
          <a:xfrm>
            <a:off x="594360" y="5870448"/>
            <a:ext cx="11009376" cy="438912"/>
          </a:xfrm>
          <a:prstGeom prst="roundRect">
            <a:avLst>
              <a:gd name="adj" fmla="val 16000"/>
            </a:avLst>
          </a:prstGeom>
          <a:solidFill>
            <a:srgbClr val="EA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0" rIns="137160" bIns="0" rtlCol="0" anchor="ctr"/>
          <a:lstStyle/>
          <a:p>
            <a:pPr algn="ctr"/>
            <a:r>
              <a:rPr sz="1300" b="1">
                <a:solidFill>
                  <a:srgbClr val="0F728B"/>
                </a:solidFill>
                <a:latin typeface="Aptos"/>
              </a:rPr>
              <a:t>PHASE 1  </a:t>
            </a:r>
            <a:r>
              <a:rPr sz="1300" b="1">
                <a:solidFill>
                  <a:srgbClr val="13223B"/>
                </a:solidFill>
                <a:latin typeface="Aptos"/>
              </a:rPr>
              <a:t>test-cases.md</a:t>
            </a:r>
            <a:r>
              <a:rPr sz="1300" b="1">
                <a:solidFill>
                  <a:srgbClr val="0F728B"/>
                </a:solidFill>
                <a:latin typeface="Aptos"/>
              </a:rPr>
              <a:t>    →    PHASE 2  </a:t>
            </a:r>
            <a:r>
              <a:rPr sz="1300" b="0">
                <a:solidFill>
                  <a:srgbClr val="13223B"/>
                </a:solidFill>
                <a:latin typeface="Aptos"/>
              </a:rPr>
              <a:t>Generate automation test scripts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88" y="4180686"/>
            <a:ext cx="265176" cy="265176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388" y="3430878"/>
            <a:ext cx="265176" cy="265176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388" y="2681070"/>
            <a:ext cx="265176" cy="265176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388" y="1931262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967D2"/>
          </a:solidFill>
          <a:ln w="12700">
            <a:solidFill>
              <a:srgbClr val="1967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11201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Two demo runs — comparison of results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11978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Based on the generated test-cases.md files. The difference is what the cases cover, not only how many.</a:t>
            </a:r>
          </a:p>
        </p:txBody>
      </p:sp>
      <p:sp>
        <p:nvSpPr>
          <p:cNvPr id="6" name="Text 4"/>
          <p:cNvSpPr/>
          <p:nvPr/>
        </p:nvSpPr>
        <p:spPr>
          <a:xfrm>
            <a:off x="10881360" y="65105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t>07 / 08</a:t>
            </a:r>
          </a:p>
        </p:txBody>
      </p:sp>
      <p:sp>
        <p:nvSpPr>
          <p:cNvPr id="7" name="Shape 5"/>
          <p:cNvSpPr/>
          <p:nvPr/>
        </p:nvSpPr>
        <p:spPr>
          <a:xfrm>
            <a:off x="512064" y="1728216"/>
            <a:ext cx="5294376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5961888" y="1728216"/>
            <a:ext cx="5715000" cy="987552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DE6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1892808"/>
            <a:ext cx="20482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96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cases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81528" y="1929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 only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36208" y="1892808"/>
            <a:ext cx="19933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cases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03920" y="19202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677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+ URL</a:t>
            </a:r>
            <a:endParaRPr lang="en-US" sz="1800" dirty="0"/>
          </a:p>
        </p:txBody>
      </p:sp>
      <p:sp>
        <p:nvSpPr>
          <p:cNvPr id="41" name="Rounded Rectangle 40"/>
          <p:cNvSpPr/>
          <p:nvPr/>
        </p:nvSpPr>
        <p:spPr>
          <a:xfrm>
            <a:off x="502920" y="2980944"/>
            <a:ext cx="11155680" cy="475488"/>
          </a:xfrm>
          <a:prstGeom prst="roundRect">
            <a:avLst>
              <a:gd name="adj" fmla="val 10000"/>
            </a:avLst>
          </a:prstGeom>
          <a:solidFill>
            <a:srgbClr val="13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072384"/>
            <a:ext cx="2788920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3072384"/>
            <a:ext cx="3520440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URL ONLY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3072384"/>
            <a:ext cx="3977639" cy="274320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DOCUMENT + URL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538728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" y="3657600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Main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3657600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Covered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657600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Covered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187952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306824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UI validation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306824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Discovered from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306824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Compared with document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837176"/>
            <a:ext cx="11155680" cy="585216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7512" y="4956048"/>
            <a:ext cx="306324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1">
                <a:solidFill>
                  <a:srgbClr val="172B47"/>
                </a:solidFill>
                <a:latin typeface="Aptos"/>
              </a:rPr>
              <a:t>Business rules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4956048"/>
            <a:ext cx="3474720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Based on observed behavior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06640" y="4956048"/>
            <a:ext cx="3995928" cy="420624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400" b="0">
                <a:solidFill>
                  <a:srgbClr val="172B47"/>
                </a:solidFill>
                <a:latin typeface="Aptos"/>
              </a:rPr>
              <a:t>More detailed rules from document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705856"/>
            <a:ext cx="11155680" cy="530352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4088" y="5824728"/>
            <a:ext cx="10680192" cy="301752"/>
          </a:xfrm>
          <a:prstGeom prst="rect">
            <a:avLst/>
          </a:prstGeom>
          <a:noFill/>
        </p:spPr>
        <p:txBody>
          <a:bodyPr wrap="square" lIns="18288" tIns="22860" rIns="18288" bIns="0">
            <a:spAutoFit/>
          </a:bodyPr>
          <a:lstStyle/>
          <a:p>
            <a:pPr algn="l"/>
            <a:r>
              <a:rPr sz="1500" b="1">
                <a:solidFill>
                  <a:srgbClr val="0F8A83"/>
                </a:solidFill>
                <a:latin typeface="Aptos"/>
              </a:rPr>
              <a:t>KEY TAKEAWAY  •  The document adds business context, not just more test cases.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36" y="1938528"/>
            <a:ext cx="274320" cy="27432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938528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2880" y="228600"/>
            <a:ext cx="11823192" cy="6400800"/>
          </a:xfrm>
          <a:prstGeom prst="roundRect">
            <a:avLst>
              <a:gd name="adj" fmla="val 4000"/>
            </a:avLst>
          </a:prstGeom>
          <a:solidFill>
            <a:srgbClr val="F9FCFE"/>
          </a:solidFill>
          <a:ln w="10160">
            <a:solidFill>
              <a:srgbClr val="DA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76488" y="2304288"/>
            <a:ext cx="2743200" cy="2029968"/>
          </a:xfrm>
          <a:prstGeom prst="roundRect">
            <a:avLst/>
          </a:prstGeom>
          <a:solidFill>
            <a:srgbClr val="F2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27448" y="2304288"/>
            <a:ext cx="2743200" cy="2029968"/>
          </a:xfrm>
          <a:prstGeom prst="roundRect">
            <a:avLst/>
          </a:prstGeom>
          <a:solidFill>
            <a:srgbClr val="E7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2304288"/>
            <a:ext cx="2743200" cy="2029968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79947"/>
            <a:ext cx="11823192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600" b="1" kern="0" spc="150">
                <a:solidFill>
                  <a:srgbClr val="0F8A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TEST PLANNING SKILLS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604556" y="873472"/>
            <a:ext cx="2998128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Ready to Try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81912"/>
            <a:ext cx="11109960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576E80"/>
                </a:solidFill>
                <a:latin typeface="Aptos"/>
              </a:rPr>
              <a:t>Start with a feature from your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371B4"/>
                </a:solidFill>
                <a:latin typeface="Aptos"/>
              </a:rPr>
              <a:t>Choose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Your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0929A"/>
                </a:solidFill>
                <a:latin typeface="Aptos"/>
              </a:rP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The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3236976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6F5FB1"/>
                </a:solidFill>
                <a:latin typeface="Aptos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7" y="3749039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>
                <a:solidFill>
                  <a:srgbClr val="576E80"/>
                </a:solidFill>
                <a:latin typeface="Aptos"/>
              </a:rPr>
              <a:t>With your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92040"/>
            <a:ext cx="11247120" cy="10972"/>
          </a:xfrm>
          <a:prstGeom prst="rect">
            <a:avLst/>
          </a:prstGeom>
          <a:solidFill>
            <a:srgbClr val="C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56241" y="5441570"/>
            <a:ext cx="4494757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chemeClr val="tx1">
                    <a:lumMod val="75000"/>
                    <a:lumOff val="25000"/>
                  </a:schemeClr>
                </a:solidFill>
                <a:latin typeface="Aptos"/>
              </a:rPr>
              <a:t>Let's improve the skills together.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44" y="5996678"/>
            <a:ext cx="465435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</a:rPr>
              <a:t>Thank you! · Questions &amp; Feedback Welcome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2633472"/>
            <a:ext cx="438912" cy="43891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633472"/>
            <a:ext cx="438912" cy="43891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263" y="263347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589</Words>
  <Application>Microsoft Office PowerPoint</Application>
  <PresentationFormat>Widescreen</PresentationFormat>
  <Paragraphs>113</Paragraphs>
  <Slides>8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Test Planning Skills — Team Demo v9</dc:title>
  <dc:subject>QA Skills Product Pitch</dc:subject>
  <dc:creator>QA Engineering</dc:creator>
  <cp:lastModifiedBy>ThinkPad</cp:lastModifiedBy>
  <cp:revision>25</cp:revision>
  <dcterms:created xsi:type="dcterms:W3CDTF">2026-10-24T15:12:41Z</dcterms:created>
  <dcterms:modified xsi:type="dcterms:W3CDTF">2026-10-26T17:31:51Z</dcterms:modified>
</cp:coreProperties>
</file>