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4" r:id="rId3"/>
    <p:sldId id="258" r:id="rId4"/>
    <p:sldId id="262" r:id="rId5"/>
    <p:sldId id="263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1610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E3C1FBF-EEAD-64F1-F9C8-B6CA56A66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TEST PLANNING SKILLS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01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3200" b="1">
                <a:solidFill>
                  <a:srgbClr val="142440"/>
                </a:solidFill>
                <a:latin typeface="Aptos"/>
              </a:rPr>
              <a:t>Why QA Test Planning Skills?</a:t>
            </a:r>
          </a:p>
        </p:txBody>
      </p:sp>
      <p:sp>
        <p:nvSpPr>
          <p:cNvPr id="5" name="Text 3"/>
          <p:cNvSpPr/>
          <p:nvPr/>
        </p:nvSpPr>
        <p:spPr>
          <a:xfrm>
            <a:off x="521208" y="11978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700" b="0">
                <a:solidFill>
                  <a:srgbClr val="637792"/>
                </a:solidFill>
                <a:latin typeface="Aptos"/>
              </a:rPr>
              <a:t>Three challenges when starting a new feature</a:t>
            </a:r>
          </a:p>
        </p:txBody>
      </p:sp>
      <p:sp>
        <p:nvSpPr>
          <p:cNvPr id="6" name="Text 4"/>
          <p:cNvSpPr/>
          <p:nvPr/>
        </p:nvSpPr>
        <p:spPr>
          <a:xfrm>
            <a:off x="10881360" y="65105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t>01 / 0</a:t>
            </a:r>
            <a:r>
              <a:rPr lang="en-US"/>
              <a:t>5</a:t>
            </a: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914374"/>
            <a:ext cx="3639312" cy="3090672"/>
          </a:xfrm>
          <a:prstGeom prst="roundRect">
            <a:avLst/>
          </a:prstGeom>
          <a:solidFill>
            <a:srgbClr val="FFFFFF"/>
          </a:solidFill>
          <a:ln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28800" y="2216126"/>
            <a:ext cx="987552" cy="987552"/>
          </a:xfrm>
          <a:prstGeom prst="ellipse">
            <a:avLst/>
          </a:prstGeom>
          <a:solidFill>
            <a:srgbClr val="FF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3496286"/>
            <a:ext cx="345643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162840"/>
                </a:solidFill>
                <a:latin typeface="Aptos"/>
              </a:rP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53486"/>
            <a:ext cx="345643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162840"/>
                </a:solidFill>
                <a:latin typeface="Aptos"/>
              </a:rPr>
              <a:t>Requirements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914374"/>
            <a:ext cx="3639312" cy="3090672"/>
          </a:xfrm>
          <a:prstGeom prst="roundRect">
            <a:avLst/>
          </a:prstGeom>
          <a:solidFill>
            <a:srgbClr val="FFFFFF"/>
          </a:solidFill>
          <a:ln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623560" y="2216126"/>
            <a:ext cx="987552" cy="987552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3496286"/>
            <a:ext cx="345643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162840"/>
                </a:solidFill>
                <a:latin typeface="Aptos"/>
              </a:rPr>
              <a:t>Slow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953486"/>
            <a:ext cx="345643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162840"/>
                </a:solidFill>
                <a:latin typeface="Aptos"/>
              </a:rPr>
              <a:t>Exploration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914374"/>
            <a:ext cx="3639312" cy="3090672"/>
          </a:xfrm>
          <a:prstGeom prst="roundRect">
            <a:avLst/>
          </a:prstGeom>
          <a:solidFill>
            <a:srgbClr val="FFFFFF"/>
          </a:solidFill>
          <a:ln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418320" y="2216126"/>
            <a:ext cx="987552" cy="987552"/>
          </a:xfrm>
          <a:prstGeom prst="ellipse">
            <a:avLst/>
          </a:prstGeom>
          <a:solidFill>
            <a:srgbClr val="E5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3880" y="3496286"/>
            <a:ext cx="345643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162840"/>
                </a:solidFill>
                <a:latin typeface="Aptos"/>
              </a:rPr>
              <a:t>Missed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3953486"/>
            <a:ext cx="345643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162840"/>
                </a:solidFill>
                <a:latin typeface="Aptos"/>
              </a:rPr>
              <a:t>Cases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486400"/>
            <a:ext cx="11283696" cy="658368"/>
          </a:xfrm>
          <a:prstGeom prst="roundRect">
            <a:avLst/>
          </a:prstGeom>
          <a:solidFill>
            <a:srgbClr val="E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5641848"/>
            <a:ext cx="10835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78D8B"/>
                </a:solidFill>
                <a:latin typeface="Aptos"/>
              </a:rPr>
              <a:t>OUR GOAL   •   Clear, reviewable test cases backed by real UI evidence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435582"/>
            <a:ext cx="521207" cy="521207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435582"/>
            <a:ext cx="521207" cy="521207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2435582"/>
            <a:ext cx="521207" cy="5212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4632" y="694944"/>
            <a:ext cx="11247120" cy="530352"/>
          </a:xfrm>
          <a:prstGeom prst="rect">
            <a:avLst/>
          </a:prstGeom>
          <a:noFill/>
        </p:spPr>
        <p:txBody>
          <a:bodyPr wrap="square" lIns="0" tIns="22860" rIns="0" bIns="0">
            <a:spAutoFit/>
          </a:bodyPr>
          <a:lstStyle/>
          <a:p>
            <a:r>
              <a:t>Three ways to start — one command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7449"/>
            <a:ext cx="10972800" cy="256032"/>
          </a:xfrm>
          <a:prstGeom prst="rect">
            <a:avLst/>
          </a:prstGeom>
          <a:noFill/>
        </p:spPr>
        <p:txBody>
          <a:bodyPr wrap="square" lIns="0" tIns="22860" rIns="0" bIns="0">
            <a:spAutoFit/>
          </a:bodyPr>
          <a:lstStyle/>
          <a:p>
            <a:r>
              <a:t>Start from the UI, from a document, or from both.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629273"/>
            <a:ext cx="11100816" cy="1271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9496" y="1629273"/>
            <a:ext cx="68580" cy="1271016"/>
          </a:xfrm>
          <a:prstGeom prst="rect">
            <a:avLst/>
          </a:prstGeom>
          <a:solidFill>
            <a:srgbClr val="1967D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86384" y="1766433"/>
            <a:ext cx="466344" cy="393192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1816724"/>
            <a:ext cx="320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967D2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84721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967D2"/>
                </a:solidFill>
                <a:latin typeface="Aptos"/>
              </a:rPr>
              <a:t>URL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168769"/>
            <a:ext cx="98755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13223B"/>
                </a:solidFill>
                <a:latin typeface="Aptos Mono"/>
              </a:rPr>
              <a:t>qa-gather-test-requirements &lt;app-url&gt; &lt;feature&gt;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571105"/>
            <a:ext cx="98755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617288"/>
                </a:solidFill>
                <a:latin typeface="Aptos"/>
              </a:rPr>
              <a:t>Explore the live UI and collect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3028305"/>
            <a:ext cx="11100816" cy="1271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9496" y="3028305"/>
            <a:ext cx="68580" cy="1271016"/>
          </a:xfrm>
          <a:prstGeom prst="rect">
            <a:avLst/>
          </a:prstGeom>
          <a:solidFill>
            <a:srgbClr val="0F8A8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86384" y="3165465"/>
            <a:ext cx="466344" cy="393192"/>
          </a:xfrm>
          <a:prstGeom prst="roundRect">
            <a:avLst/>
          </a:prstGeom>
          <a:solidFill>
            <a:srgbClr val="E8F7F5"/>
          </a:solidFill>
          <a:ln w="12700">
            <a:solidFill>
              <a:srgbClr val="E8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3215757"/>
            <a:ext cx="320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F8A83"/>
                </a:solidFill>
                <a:latin typeface="Apto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183753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F8A83"/>
                </a:solidFill>
                <a:latin typeface="Aptos"/>
              </a:rPr>
              <a:t>DOCUMENT + URL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567801"/>
            <a:ext cx="98755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13223B"/>
                </a:solidFill>
                <a:latin typeface="Aptos Mono"/>
              </a:rPr>
              <a:t>qa-gather-test-requirements &lt;requirements-file.md&gt; &lt;app-url&gt; &lt;feature&gt;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970137"/>
            <a:ext cx="98755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617288"/>
                </a:solidFill>
                <a:latin typeface="Aptos"/>
              </a:rPr>
              <a:t>Compare requirements with observed UI behavior</a:t>
            </a:r>
            <a:r>
              <a:rPr lang="en-US" sz="1200">
                <a:solidFill>
                  <a:srgbClr val="617288"/>
                </a:solidFill>
                <a:latin typeface="Aptos"/>
              </a:rPr>
              <a:t> </a:t>
            </a:r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to</a:t>
            </a:r>
            <a:r>
              <a:rPr lang="en-US" sz="1200">
                <a:solidFill>
                  <a:srgbClr val="617288"/>
                </a:solidFill>
                <a:latin typeface="Aptos"/>
              </a:rPr>
              <a:t> find business rules and differences.</a:t>
            </a:r>
            <a:endParaRPr sz="1200" b="0">
              <a:solidFill>
                <a:srgbClr val="617288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30352" y="4427337"/>
            <a:ext cx="11100816" cy="1271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9496" y="4427337"/>
            <a:ext cx="68580" cy="1271016"/>
          </a:xfrm>
          <a:prstGeom prst="rect">
            <a:avLst/>
          </a:prstGeom>
          <a:solidFill>
            <a:srgbClr val="6650B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86384" y="4564497"/>
            <a:ext cx="466344" cy="393192"/>
          </a:xfrm>
          <a:prstGeom prst="roundRect">
            <a:avLst/>
          </a:prstGeom>
          <a:solidFill>
            <a:srgbClr val="F1EDFB"/>
          </a:solidFill>
          <a:ln w="12700">
            <a:solidFill>
              <a:srgbClr val="F1E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" y="4614789"/>
            <a:ext cx="320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650B1"/>
                </a:solidFill>
                <a:latin typeface="Aptos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582785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6650B1"/>
                </a:solidFill>
                <a:latin typeface="Aptos"/>
              </a:rPr>
              <a:t>DOCUMENT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4966833"/>
            <a:ext cx="98755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13223B"/>
                </a:solidFill>
                <a:latin typeface="Aptos Mono"/>
              </a:rPr>
              <a:t>qa-gather-test-requirements &lt;requirements-file.md&gt; &lt;feature&gt;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88" y="5369169"/>
            <a:ext cx="98755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chemeClr val="tx1">
                    <a:lumMod val="65000"/>
                    <a:lumOff val="35000"/>
                  </a:schemeClr>
                </a:solidFill>
              </a:rPr>
              <a:t>Review requirements early; find missing tests and unclear details.</a:t>
            </a:r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23F0303E-262C-EE9C-1555-7131DE56B782}"/>
              </a:ext>
            </a:extLst>
          </p:cNvPr>
          <p:cNvSpPr/>
          <p:nvPr/>
        </p:nvSpPr>
        <p:spPr>
          <a:xfrm>
            <a:off x="502920" y="20116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TEST PLANNING SKILLS</a:t>
            </a:r>
            <a:endParaRPr lang="en-US" sz="1100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D7192F63-C134-BDF7-7CF3-F1A64D3E54FE}"/>
              </a:ext>
            </a:extLst>
          </p:cNvPr>
          <p:cNvSpPr/>
          <p:nvPr/>
        </p:nvSpPr>
        <p:spPr>
          <a:xfrm>
            <a:off x="10881360" y="65105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</a:rPr>
              <a:t> / 0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TEST PLANNING SKILLS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01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Four-Step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1978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When a URL is provided: Explore UI → Evidence Gate → Requirements → Plan → Cases</a:t>
            </a:r>
          </a:p>
        </p:txBody>
      </p:sp>
      <p:sp>
        <p:nvSpPr>
          <p:cNvPr id="6" name="Text 4"/>
          <p:cNvSpPr/>
          <p:nvPr/>
        </p:nvSpPr>
        <p:spPr>
          <a:xfrm>
            <a:off x="10881360" y="65105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t>03 / 0</a:t>
            </a:r>
            <a:r>
              <a:rPr lang="en-US"/>
              <a:t>5</a:t>
            </a:r>
            <a:endParaRPr/>
          </a:p>
        </p:txBody>
      </p:sp>
      <p:sp>
        <p:nvSpPr>
          <p:cNvPr id="7" name="Shape 5"/>
          <p:cNvSpPr/>
          <p:nvPr/>
        </p:nvSpPr>
        <p:spPr>
          <a:xfrm>
            <a:off x="502920" y="2061630"/>
            <a:ext cx="2697480" cy="1024128"/>
          </a:xfrm>
          <a:prstGeom prst="roundRect">
            <a:avLst>
              <a:gd name="adj" fmla="val 13393"/>
            </a:avLst>
          </a:prstGeom>
          <a:solidFill>
            <a:srgbClr val="E8F5F2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58368" y="222622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2416" y="221825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UI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7512" y="2710854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qa-explore-real-ui</a:t>
            </a:r>
            <a:endParaRPr lang="en-US" sz="1200" b="1" dirty="0"/>
          </a:p>
        </p:txBody>
      </p:sp>
      <p:sp>
        <p:nvSpPr>
          <p:cNvPr id="11" name="Shape 9"/>
          <p:cNvSpPr/>
          <p:nvPr/>
        </p:nvSpPr>
        <p:spPr>
          <a:xfrm>
            <a:off x="3218688" y="2573694"/>
            <a:ext cx="146304" cy="0"/>
          </a:xfrm>
          <a:prstGeom prst="line">
            <a:avLst/>
          </a:prstGeom>
          <a:noFill/>
          <a:ln w="25400">
            <a:solidFill>
              <a:srgbClr val="1967D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383280" y="2061630"/>
            <a:ext cx="2697480" cy="1024128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538728" y="222622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922776" y="221825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47872" y="2710854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qa-gather-test-requirements</a:t>
            </a:r>
            <a:endParaRPr lang="en-US" sz="1200" b="1" dirty="0"/>
          </a:p>
        </p:txBody>
      </p:sp>
      <p:sp>
        <p:nvSpPr>
          <p:cNvPr id="16" name="Shape 14"/>
          <p:cNvSpPr/>
          <p:nvPr/>
        </p:nvSpPr>
        <p:spPr>
          <a:xfrm>
            <a:off x="6099048" y="2573694"/>
            <a:ext cx="146304" cy="0"/>
          </a:xfrm>
          <a:prstGeom prst="line">
            <a:avLst/>
          </a:prstGeom>
          <a:noFill/>
          <a:ln w="25400">
            <a:solidFill>
              <a:srgbClr val="1967D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263640" y="2061630"/>
            <a:ext cx="2697480" cy="1024128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19088" y="222622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03136" y="221825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Plan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28232" y="2710854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qa-generate-test-plan</a:t>
            </a:r>
            <a:endParaRPr lang="en-US" sz="1200" b="1" dirty="0"/>
          </a:p>
        </p:txBody>
      </p:sp>
      <p:sp>
        <p:nvSpPr>
          <p:cNvPr id="21" name="Shape 19"/>
          <p:cNvSpPr/>
          <p:nvPr/>
        </p:nvSpPr>
        <p:spPr>
          <a:xfrm>
            <a:off x="8979408" y="2573694"/>
            <a:ext cx="146304" cy="0"/>
          </a:xfrm>
          <a:prstGeom prst="line">
            <a:avLst/>
          </a:prstGeom>
          <a:noFill/>
          <a:ln w="25400">
            <a:solidFill>
              <a:srgbClr val="1967D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144000" y="2061630"/>
            <a:ext cx="2697480" cy="1024128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9299448" y="222622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683496" y="221825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Cases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308592" y="2710854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qa-generate-testcases</a:t>
            </a:r>
            <a:endParaRPr lang="en-US" sz="1200" b="1" dirty="0"/>
          </a:p>
        </p:txBody>
      </p:sp>
      <p:sp>
        <p:nvSpPr>
          <p:cNvPr id="26" name="Shape 24"/>
          <p:cNvSpPr/>
          <p:nvPr/>
        </p:nvSpPr>
        <p:spPr>
          <a:xfrm>
            <a:off x="685800" y="3561246"/>
            <a:ext cx="2221992" cy="877824"/>
          </a:xfrm>
          <a:prstGeom prst="roundRect">
            <a:avLst>
              <a:gd name="adj" fmla="val 15625"/>
            </a:avLst>
          </a:prstGeom>
          <a:solidFill>
            <a:srgbClr val="EAF1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67508" y="3680118"/>
            <a:ext cx="18756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UI evidence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0120" y="405502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Gate </a:t>
            </a:r>
            <a:r>
              <a:rPr lang="en-US" sz="100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automatic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810512" y="3085758"/>
            <a:ext cx="0" cy="448056"/>
          </a:xfrm>
          <a:prstGeom prst="line">
            <a:avLst/>
          </a:prstGeom>
          <a:noFill/>
          <a:ln w="25400">
            <a:solidFill>
              <a:srgbClr val="1967D2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85800" y="4731678"/>
            <a:ext cx="2267712" cy="502920"/>
          </a:xfrm>
          <a:prstGeom prst="roundRect">
            <a:avLst>
              <a:gd name="adj" fmla="val 27273"/>
            </a:avLst>
          </a:prstGeom>
          <a:solidFill>
            <a:srgbClr val="FEF0EB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04672" y="4823118"/>
            <a:ext cx="20391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B74B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 → Re-explore UI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3300984" y="3606966"/>
            <a:ext cx="8275320" cy="950976"/>
          </a:xfrm>
          <a:prstGeom prst="roundRect">
            <a:avLst>
              <a:gd name="adj" fmla="val 14423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3511296" y="378070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9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r>
              <a:rPr lang="en-US" sz="17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→ Save evidence and continue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502152" y="416475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500"/>
              <a:t>Explore UI and Evidence Gate run only when a URL is provided.</a:t>
            </a:r>
          </a:p>
        </p:txBody>
      </p:sp>
      <p:sp>
        <p:nvSpPr>
          <p:cNvPr id="35" name="Shape 33"/>
          <p:cNvSpPr/>
          <p:nvPr/>
        </p:nvSpPr>
        <p:spPr>
          <a:xfrm>
            <a:off x="3246120" y="5088294"/>
            <a:ext cx="8348472" cy="621792"/>
          </a:xfrm>
          <a:prstGeom prst="roundRect">
            <a:avLst>
              <a:gd name="adj" fmla="val 22059"/>
            </a:avLst>
          </a:prstGeom>
          <a:solidFill>
            <a:srgbClr val="E7F5F1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3483864" y="5216310"/>
            <a:ext cx="78455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700"/>
              <a:t>Without a URL: Start from requirements → Test plan → Proposed test cases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898648" y="4000158"/>
            <a:ext cx="402336" cy="0"/>
          </a:xfrm>
          <a:prstGeom prst="line">
            <a:avLst/>
          </a:prstGeom>
          <a:ln w="25400">
            <a:solidFill>
              <a:srgbClr val="108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hevron 41"/>
          <p:cNvSpPr/>
          <p:nvPr/>
        </p:nvSpPr>
        <p:spPr>
          <a:xfrm>
            <a:off x="3200400" y="3917862"/>
            <a:ext cx="146304" cy="164592"/>
          </a:xfrm>
          <a:prstGeom prst="chevron">
            <a:avLst/>
          </a:prstGeom>
          <a:solidFill>
            <a:srgbClr val="108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02920" y="1624824"/>
            <a:ext cx="2240280" cy="301752"/>
          </a:xfrm>
          <a:prstGeom prst="roundRect">
            <a:avLst/>
          </a:prstGeom>
          <a:solidFill>
            <a:srgbClr val="E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r>
              <a:rPr sz="1600">
                <a:solidFill>
                  <a:srgbClr val="0F8A83"/>
                </a:solidFill>
              </a:rPr>
              <a:t>1 STEP = 1 SKILL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2262798"/>
            <a:ext cx="274320" cy="27432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2262798"/>
            <a:ext cx="274320" cy="27432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992" y="2262798"/>
            <a:ext cx="274320" cy="27432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0632" y="2262798"/>
            <a:ext cx="274320" cy="27432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2032" y="3670974"/>
            <a:ext cx="246888" cy="246888"/>
          </a:xfrm>
          <a:prstGeom prst="rect">
            <a:avLst/>
          </a:prstGeom>
        </p:spPr>
      </p:pic>
      <p:sp>
        <p:nvSpPr>
          <p:cNvPr id="37" name="Shape 27">
            <a:extLst>
              <a:ext uri="{FF2B5EF4-FFF2-40B4-BE49-F238E27FC236}">
                <a16:creationId xmlns:a16="http://schemas.microsoft.com/office/drawing/2014/main" id="{5603685D-D39F-B992-2C67-20660E8795DA}"/>
              </a:ext>
            </a:extLst>
          </p:cNvPr>
          <p:cNvSpPr/>
          <p:nvPr/>
        </p:nvSpPr>
        <p:spPr>
          <a:xfrm>
            <a:off x="1810512" y="4439070"/>
            <a:ext cx="0" cy="283464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TEST PLANNING SKILLS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01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Three input modes — comparison of results</a:t>
            </a:r>
          </a:p>
        </p:txBody>
      </p:sp>
      <p:sp>
        <p:nvSpPr>
          <p:cNvPr id="5" name="Text 3"/>
          <p:cNvSpPr/>
          <p:nvPr/>
        </p:nvSpPr>
        <p:spPr>
          <a:xfrm>
            <a:off x="521208" y="11978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600"/>
              <a:t>Three ways to prepare test cases, depending on what is available.</a:t>
            </a:r>
          </a:p>
        </p:txBody>
      </p:sp>
      <p:sp>
        <p:nvSpPr>
          <p:cNvPr id="6" name="Text 4"/>
          <p:cNvSpPr/>
          <p:nvPr/>
        </p:nvSpPr>
        <p:spPr>
          <a:xfrm>
            <a:off x="10881360" y="65105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t>0</a:t>
            </a:r>
            <a:r>
              <a:rPr lang="en-US"/>
              <a:t>4</a:t>
            </a:r>
            <a:r>
              <a:t>/ 0</a:t>
            </a:r>
            <a:r>
              <a:rPr lang="en-US"/>
              <a:t>5</a:t>
            </a: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719072"/>
            <a:ext cx="363931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84708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1967D2"/>
                </a:solidFill>
                <a:latin typeface="Aptos"/>
              </a:rPr>
              <a:t>36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340864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13223B"/>
                </a:solidFill>
                <a:latin typeface="Aptos"/>
              </a:rPr>
              <a:t>URL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578608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17288"/>
                </a:solidFill>
                <a:latin typeface="Aptos"/>
              </a:rPr>
              <a:t>Observed UI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1104" y="1719072"/>
            <a:ext cx="363931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43984" y="184708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0F8A83"/>
                </a:solidFill>
                <a:latin typeface="Aptos"/>
              </a:rPr>
              <a:t>41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340864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13223B"/>
                </a:solidFill>
                <a:latin typeface="Aptos"/>
              </a:rPr>
              <a:t>DOCUMENT + 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578608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17288"/>
                </a:solidFill>
                <a:latin typeface="Aptos"/>
              </a:rPr>
              <a:t>UI + documented 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19072"/>
            <a:ext cx="363931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84708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6650B1"/>
                </a:solidFill>
                <a:latin typeface="Aptos"/>
              </a:rPr>
              <a:t>27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40864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13223B"/>
                </a:solidFill>
                <a:latin typeface="Aptos"/>
              </a:rPr>
              <a:t>DOCUMENT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578608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17288"/>
                </a:solidFill>
                <a:latin typeface="Aptos"/>
              </a:rPr>
              <a:t>Document only · pre-UI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108960"/>
            <a:ext cx="11155680" cy="4114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EA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209544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13223B"/>
                </a:solidFill>
                <a:latin typeface="Aptos"/>
              </a:rPr>
              <a:t>AREA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09544"/>
            <a:ext cx="28620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13223B"/>
                </a:solidFill>
                <a:latin typeface="Aptos"/>
              </a:rPr>
              <a:t>URL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0176" y="3209544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13223B"/>
                </a:solidFill>
                <a:latin typeface="Aptos"/>
              </a:rPr>
              <a:t>DOCUMENT + URL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1392" y="3209544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13223B"/>
                </a:solidFill>
                <a:latin typeface="Aptos"/>
              </a:rPr>
              <a:t>DOCUMENT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621024"/>
            <a:ext cx="111556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3739896"/>
            <a:ext cx="233172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3223B"/>
                </a:solidFill>
                <a:latin typeface="Aptos"/>
              </a:rPr>
              <a:t>Basis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3739896"/>
            <a:ext cx="278892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13223B"/>
                </a:solidFill>
                <a:latin typeface="Aptos"/>
              </a:rPr>
              <a:t>Real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0176" y="3739896"/>
            <a:ext cx="2770632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13223B"/>
                </a:solidFill>
                <a:latin typeface="Aptos"/>
              </a:rPr>
              <a:t>UI + document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392" y="3739896"/>
            <a:ext cx="2624328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13223B"/>
                </a:solidFill>
                <a:latin typeface="Aptos"/>
              </a:rPr>
              <a:t>Provided document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224528"/>
            <a:ext cx="11155680" cy="54864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E3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4343400"/>
            <a:ext cx="233172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13223B"/>
                </a:solidFill>
                <a:latin typeface="Aptos"/>
              </a:rPr>
              <a:t>Coverage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4343400"/>
            <a:ext cx="278892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13223B"/>
                </a:solidFill>
                <a:latin typeface="Aptos"/>
              </a:rPr>
              <a:t>Main UI workflows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0176" y="4343400"/>
            <a:ext cx="2770632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13223B"/>
                </a:solidFill>
                <a:latin typeface="Aptos"/>
              </a:rPr>
              <a:t>Main workflows +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1392" y="4343400"/>
            <a:ext cx="2624328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/>
              <a:t>Core cases; filter, sort and reset still missing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828032"/>
            <a:ext cx="111556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4946904"/>
            <a:ext cx="233172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13223B"/>
                </a:solidFill>
                <a:latin typeface="Aptos"/>
              </a:rPr>
              <a:t>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3240" y="4946904"/>
            <a:ext cx="278892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13223B"/>
                </a:solidFill>
                <a:latin typeface="Aptos"/>
              </a:rPr>
              <a:t>Observed in UI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0176" y="4946904"/>
            <a:ext cx="2770632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13223B"/>
                </a:solidFill>
                <a:latin typeface="Aptos"/>
              </a:rPr>
              <a:t>Mixed UI &amp; document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51392" y="4946904"/>
            <a:ext cx="262432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en-US" sz="1200"/>
              <a:t>Not yet checked on the real UI</a:t>
            </a:r>
            <a:endParaRPr sz="1200" b="0">
              <a:solidFill>
                <a:srgbClr val="13223B"/>
              </a:solidFill>
              <a:latin typeface="Apto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02920" y="5596128"/>
            <a:ext cx="11155680" cy="658368"/>
          </a:xfrm>
          <a:prstGeom prst="roundRect">
            <a:avLst/>
          </a:prstGeom>
          <a:solidFill>
            <a:srgbClr val="EDF7F5"/>
          </a:solidFill>
          <a:ln w="12700">
            <a:solidFill>
              <a:srgbClr val="ED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94944" y="5808789"/>
            <a:ext cx="1077163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/>
              <a:t>IN SHORT  </a:t>
            </a:r>
            <a:r>
              <a:rPr sz="1300"/>
              <a:t>•  Use a document to plan early. When the UI is ready, </a:t>
            </a:r>
            <a:r>
              <a:rPr lang="en-US" sz="1400"/>
              <a:t>check the test cases on the real website</a:t>
            </a:r>
            <a:r>
              <a:rPr sz="130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82880" y="228600"/>
            <a:ext cx="11823192" cy="6400800"/>
          </a:xfrm>
          <a:prstGeom prst="roundRect">
            <a:avLst>
              <a:gd name="adj" fmla="val 4000"/>
            </a:avLst>
          </a:prstGeom>
          <a:solidFill>
            <a:srgbClr val="F9FCFE"/>
          </a:solidFill>
          <a:ln w="10160">
            <a:solidFill>
              <a:srgbClr val="DA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227832" y="5916168"/>
            <a:ext cx="5733288" cy="521207"/>
          </a:xfrm>
          <a:prstGeom prst="roundRect">
            <a:avLst/>
          </a:prstGeom>
          <a:solidFill>
            <a:srgbClr val="E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76488" y="2304288"/>
            <a:ext cx="2743200" cy="2029968"/>
          </a:xfrm>
          <a:prstGeom prst="roundRect">
            <a:avLst/>
          </a:prstGeom>
          <a:solidFill>
            <a:srgbClr val="F2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727448" y="2304288"/>
            <a:ext cx="2743200" cy="2029968"/>
          </a:xfrm>
          <a:prstGeom prst="roundRect">
            <a:avLst/>
          </a:prstGeom>
          <a:solidFill>
            <a:srgbClr val="E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60120" y="2304288"/>
            <a:ext cx="2743200" cy="2029968"/>
          </a:xfrm>
          <a:prstGeom prst="roundRect">
            <a:avLst/>
          </a:prstGeom>
          <a:solidFill>
            <a:srgbClr val="EB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109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>
                <a:solidFill>
                  <a:srgbClr val="163953"/>
                </a:solidFill>
                <a:latin typeface="Aptos"/>
              </a:rPr>
              <a:t>Ready to Try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81912"/>
            <a:ext cx="1110996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576E80"/>
                </a:solidFill>
                <a:latin typeface="Aptos"/>
              </a:rPr>
              <a:t>Start with a feature from your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236976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3371B4"/>
                </a:solidFill>
                <a:latin typeface="Aptos"/>
              </a:rPr>
              <a:t>Choose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74903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576E80"/>
                </a:solidFill>
                <a:latin typeface="Aptos"/>
              </a:rPr>
              <a:t>Your 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3236976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0929A"/>
                </a:solidFill>
                <a:latin typeface="Aptos"/>
              </a:rPr>
              <a:t>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374903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576E80"/>
                </a:solidFill>
                <a:latin typeface="Aptos"/>
              </a:rPr>
              <a:t>The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3236976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6F5FB1"/>
                </a:solidFill>
                <a:latin typeface="Aptos"/>
              </a:rPr>
              <a:t>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7" y="374903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576E80"/>
                </a:solidFill>
                <a:latin typeface="Aptos"/>
              </a:rPr>
              <a:t>With your team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92040"/>
            <a:ext cx="11247120" cy="10972"/>
          </a:xfrm>
          <a:prstGeom prst="rect">
            <a:avLst/>
          </a:prstGeom>
          <a:solidFill>
            <a:srgbClr val="C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5413248"/>
            <a:ext cx="11109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163953"/>
                </a:solidFill>
                <a:latin typeface="Aptos"/>
              </a:rPr>
              <a:t>Let's improve the skills together.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07608"/>
            <a:ext cx="111099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0">
                <a:solidFill>
                  <a:srgbClr val="00929A"/>
                </a:solidFill>
                <a:latin typeface="Aptos"/>
              </a:rPr>
              <a:t>Thank you! · Questions &amp; Feedback Welcome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632" y="2633472"/>
            <a:ext cx="438912" cy="438912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2633472"/>
            <a:ext cx="438912" cy="438912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2263" y="2633472"/>
            <a:ext cx="438912" cy="438912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3691903C-9F3C-29DB-153E-EC9207BAA908}"/>
              </a:ext>
            </a:extLst>
          </p:cNvPr>
          <p:cNvSpPr/>
          <p:nvPr/>
        </p:nvSpPr>
        <p:spPr>
          <a:xfrm>
            <a:off x="182880" y="321638"/>
            <a:ext cx="11823192" cy="32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TEST PLANNING SKILLS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404</Words>
  <Application>Microsoft Office PowerPoint</Application>
  <PresentationFormat>Widescreen</PresentationFormat>
  <Paragraphs>95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Test Planning Skills — Team Demo v9</dc:title>
  <dc:subject>QA Skills Product Pitch</dc:subject>
  <dc:creator>QA Engineering</dc:creator>
  <cp:lastModifiedBy>ThinkPad</cp:lastModifiedBy>
  <cp:revision>19</cp:revision>
  <dcterms:created xsi:type="dcterms:W3CDTF">2026-10-24T15:12:41Z</dcterms:created>
  <dcterms:modified xsi:type="dcterms:W3CDTF">2026-10-27T14:30:40Z</dcterms:modified>
</cp:coreProperties>
</file>