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6733" autoAdjust="0"/>
  </p:normalViewPr>
  <p:slideViewPr>
    <p:cSldViewPr snapToGrid="0" snapToObjects="1">
      <p:cViewPr varScale="1">
        <p:scale>
          <a:sx n="64" d="100"/>
          <a:sy n="64" d="100"/>
        </p:scale>
        <p:origin x="1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61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Hello everyone. Today, I'd like to introduce our QA Test Planning Skills.</a:t>
            </a:r>
          </a:p>
          <a:p>
            <a:r>
              <a:rPr lang="en-US"/>
              <a:t>When working on a new feature, we often face three challenges.</a:t>
            </a:r>
          </a:p>
          <a:p>
            <a:r>
              <a:rPr lang="en-US" b="1"/>
              <a:t>First, incomplete requirements.</a:t>
            </a:r>
            <a:r>
              <a:rPr lang="en-US"/>
              <a:t> Sometimes, we don't have enough information about the feature.</a:t>
            </a:r>
          </a:p>
          <a:p>
            <a:r>
              <a:rPr lang="en-US" b="1"/>
              <a:t>Second, UI exploration takes time.</a:t>
            </a:r>
            <a:r>
              <a:rPr lang="en-US"/>
              <a:t> We need to explore the UI to understand how it works.</a:t>
            </a:r>
          </a:p>
          <a:p>
            <a:r>
              <a:rPr lang="en-US" b="1"/>
              <a:t>Third, missing test cases.</a:t>
            </a:r>
            <a:r>
              <a:rPr lang="en-US"/>
              <a:t> It's easy to miss some important scenarios.</a:t>
            </a:r>
          </a:p>
          <a:p>
            <a:r>
              <a:rPr lang="en-US"/>
              <a:t>That's why we built these skills — to help our team understand features and create test cases in a more consistent way.</a:t>
            </a:r>
          </a:p>
          <a:p>
            <a:r>
              <a:rPr lang="en-US"/>
              <a:t>Now, let's look at two ways to use them.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6AE28AB-1FFB-6561-DF82-07DE5890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We have two options.</a:t>
            </a:r>
          </a:p>
          <a:p>
            <a:r>
              <a:rPr lang="en-US" b="1"/>
              <a:t>Option A: URL only.</a:t>
            </a:r>
            <a:endParaRPr lang="en-US"/>
          </a:p>
          <a:p>
            <a:r>
              <a:rPr lang="en-US"/>
              <a:t>We provide a URL, a feature name, and login information if needed.</a:t>
            </a:r>
          </a:p>
          <a:p>
            <a:r>
              <a:rPr lang="en-US"/>
              <a:t>The skills explore the real UI and collect evidence.</a:t>
            </a:r>
          </a:p>
          <a:p>
            <a:r>
              <a:rPr lang="en-US" b="1"/>
              <a:t>Option B: Document and URL.</a:t>
            </a:r>
            <a:endParaRPr lang="en-US"/>
          </a:p>
          <a:p>
            <a:r>
              <a:rPr lang="en-US"/>
              <a:t>We provide the same information, plus a requirements document.</a:t>
            </a:r>
          </a:p>
          <a:p>
            <a:r>
              <a:rPr lang="en-US"/>
              <a:t>The skills use both the document and the real UI to find business rules and any differences between them.</a:t>
            </a:r>
          </a:p>
          <a:p>
            <a:r>
              <a:rPr lang="en-US"/>
              <a:t>Both options create test cases for the team to review.</a:t>
            </a:r>
          </a:p>
          <a:p>
            <a:r>
              <a:rPr lang="en-US"/>
              <a:t>Now, let's look at how the skills work.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 let's look at how the skills work.</a:t>
            </a:r>
          </a:p>
          <a:p>
            <a:r>
              <a:rPr lang="en-US"/>
              <a:t>As you can see, there are four main steps. Each step is handled by a different skill.</a:t>
            </a:r>
          </a:p>
          <a:p>
            <a:r>
              <a:rPr lang="en-US"/>
              <a:t>First, the skills explore the real UI and collect evidence, such as screenshots.</a:t>
            </a:r>
          </a:p>
          <a:p>
            <a:r>
              <a:rPr lang="en-US"/>
              <a:t>The Evidence Gate then checks the saved evidence.</a:t>
            </a:r>
          </a:p>
          <a:p>
            <a:r>
              <a:rPr lang="en-US"/>
              <a:t>If the check fails, the skills explore the UI again. If it passes, they continue to analyze the requirements, create a test plan, and generate test cases.</a:t>
            </a:r>
          </a:p>
          <a:p>
            <a:r>
              <a:rPr lang="en-US"/>
              <a:t>After each phase, we can review the results and type "next" to continue.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 let's move to VS Code and look at the completed runs.</a:t>
            </a:r>
          </a:p>
          <a:p>
            <a:r>
              <a:rPr lang="en-US"/>
              <a:t>Here are the four skills we just discussed.</a:t>
            </a:r>
          </a:p>
          <a:p>
            <a:r>
              <a:rPr lang="en-US"/>
              <a:t>Each skill has its own instructions and supporting files.</a:t>
            </a:r>
          </a:p>
          <a:p>
            <a:r>
              <a:rPr lang="en-US"/>
              <a:t>And here is the Evidence Gate script.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Now, let's look at the two runs.</a:t>
            </a:r>
          </a:p>
          <a:p>
            <a:r>
              <a:rPr lang="en-US"/>
              <a:t>This is Option A, using only a URL.</a:t>
            </a:r>
          </a:p>
          <a:p>
            <a:r>
              <a:rPr lang="en-US"/>
              <a:t>And this is Option B, with a requirements document.</a:t>
            </a:r>
          </a:p>
          <a:p>
            <a:r>
              <a:rPr lang="en-US"/>
              <a:t>I've already completed both runs to save time.</a:t>
            </a:r>
          </a:p>
          <a:p>
            <a:r>
              <a:rPr lang="en-US"/>
              <a:t>Here, you can see how I typed "next" to move through the phases.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Here are the four output files.</a:t>
            </a:r>
          </a:p>
          <a:p>
            <a:r>
              <a:rPr lang="en-US"/>
              <a:t>We have UI evidence, requirements analysis, a test plan, and test cases.</a:t>
            </a:r>
          </a:p>
          <a:p>
            <a:r>
              <a:rPr lang="en-US"/>
              <a:t>Each file uses information from the previous step.</a:t>
            </a:r>
          </a:p>
          <a:p>
            <a:r>
              <a:rPr lang="en-US"/>
              <a:t>This helps us create test cases based on real UI evidence and requirements.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Let me show you one example.</a:t>
            </a:r>
          </a:p>
          <a:p>
            <a:r>
              <a:rPr lang="en-US"/>
              <a:t>Here, the document says that attachment files must be no larger than one megabyte.</a:t>
            </a:r>
          </a:p>
          <a:p>
            <a:r>
              <a:rPr lang="en-US"/>
              <a:t>And here, the skills created two test cases: one for a file over the limit, and one for a file exactly at the limit.</a:t>
            </a:r>
          </a:p>
          <a:p>
            <a:r>
              <a:rPr lang="en-US"/>
              <a:t>So, we can see how a requirement becomes test cases that the team can review.</a:t>
            </a:r>
          </a:p>
          <a:p>
            <a:r>
              <a:rPr lang="en-US"/>
              <a:t>We can also use the final test cases as input for Phase 2 to generate automation scripts, as Ngoc shared in our previous meeting.</a:t>
            </a:r>
          </a:p>
          <a:p>
            <a:r>
              <a:rPr lang="en-US"/>
              <a:t>Now, let's go back to the slides and compare the results.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AA36-9D48-19FC-0E50-D3ECDF4D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6F133-D808-7EFB-1023-4EECAF546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B17A7-8E51-A78F-2C13-66FA73158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9051-51FF-F877-5836-D2C9C176C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69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7C31-662C-1EED-F107-796C3675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20887-1299-DDCC-6E02-D1FDBBA52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1E199-5693-F38B-61D4-5FD69B46B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0A883-0038-8FA8-4FAD-EC3C3F361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5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Now, let's compare the two runs.</a:t>
            </a:r>
          </a:p>
          <a:p>
            <a:r>
              <a:rPr lang="en-US"/>
              <a:t>With URL only, we got 36 test cases.</a:t>
            </a:r>
          </a:p>
          <a:p>
            <a:r>
              <a:rPr lang="en-US"/>
              <a:t>With Document and URL, we got 41 test cases.</a:t>
            </a:r>
          </a:p>
          <a:p>
            <a:r>
              <a:rPr lang="en-US"/>
              <a:t>Both cover the main workflows.</a:t>
            </a:r>
          </a:p>
          <a:p>
            <a:r>
              <a:rPr lang="en-US"/>
              <a:t>The URL-only run found useful UI details.</a:t>
            </a:r>
          </a:p>
          <a:p>
            <a:r>
              <a:rPr lang="en-US"/>
              <a:t>With the document, we also got more detailed test cases based on business rules.</a:t>
            </a:r>
          </a:p>
          <a:p>
            <a:r>
              <a:rPr lang="en-US"/>
              <a:t>So, the main difference is not just the number of test cases, but what they cover.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That's all for today's demo.</a:t>
            </a:r>
          </a:p>
          <a:p>
            <a:r>
              <a:rPr lang="en-US"/>
              <a:t>I hope you find these skills useful.</a:t>
            </a:r>
          </a:p>
          <a:p>
            <a:r>
              <a:rPr lang="en-US"/>
              <a:t>I'd be happy to hear your feedback so we can improve them together.</a:t>
            </a:r>
          </a:p>
          <a:p>
            <a:r>
              <a:rPr lang="en-US"/>
              <a:t>Thank you! Any questions?</a:t>
            </a:r>
          </a:p>
          <a:p>
            <a:endParaRPr lang="en-US"/>
          </a:p>
          <a:p>
            <a:r>
              <a:rPr lang="en-US"/>
              <a:t>Q&amp;A — Where can we find these skills?</a:t>
            </a:r>
          </a:p>
          <a:p>
            <a:r>
              <a:rPr lang="en-US"/>
              <a:t>I'll create a separate branch and open a pull request so the team can review and try them.</a:t>
            </a:r>
          </a:p>
          <a:p>
            <a:r>
              <a:rPr lang="en-US"/>
              <a:t>After collecting feedback, we can make improvements before merging.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our team need QA Test Planning Skills?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turn a new feature into clear, reviewable test cases?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01 / 08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1137392" cy="1078992"/>
          </a:xfrm>
          <a:prstGeom prst="roundRect">
            <a:avLst>
              <a:gd name="adj" fmla="val 13559"/>
            </a:avLst>
          </a:prstGeom>
          <a:solidFill>
            <a:srgbClr val="13223B"/>
          </a:solidFill>
          <a:ln w="10160">
            <a:solidFill>
              <a:srgbClr val="1322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947672"/>
            <a:ext cx="10561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URL or requirements document to test cases backed by UI evidence.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3136392"/>
            <a:ext cx="3547872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67512" y="3337560"/>
            <a:ext cx="612648" cy="594360"/>
          </a:xfrm>
          <a:prstGeom prst="roundRect">
            <a:avLst>
              <a:gd name="adj" fmla="val 23077"/>
            </a:avLst>
          </a:prstGeom>
          <a:solidFill>
            <a:srgbClr val="FDF1E4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4733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78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89888" y="333756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details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" y="407822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and expected behavior may be unclear.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3136392"/>
            <a:ext cx="3547872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16552" y="3337560"/>
            <a:ext cx="612648" cy="594360"/>
          </a:xfrm>
          <a:prstGeom prst="roundRect">
            <a:avLst>
              <a:gd name="adj" fmla="val 23077"/>
            </a:avLst>
          </a:prstGeom>
          <a:solidFill>
            <a:srgbClr val="E9F3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26280" y="34733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38928" y="333756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Time-consuming exploration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71416" y="407822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Checking screens, flows, and validations takes time.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01000" y="3136392"/>
            <a:ext cx="3547872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65592" y="3337560"/>
            <a:ext cx="612648" cy="594360"/>
          </a:xfrm>
          <a:prstGeom prst="roundRect">
            <a:avLst>
              <a:gd name="adj" fmla="val 23077"/>
            </a:avLst>
          </a:prstGeom>
          <a:solidFill>
            <a:srgbClr val="E7F7F4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75320" y="347331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87968" y="3337560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test scenarios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0456" y="407822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people may miss different cases.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458968"/>
            <a:ext cx="11137392" cy="621792"/>
          </a:xfrm>
          <a:prstGeom prst="roundRect">
            <a:avLst>
              <a:gd name="adj" fmla="val 19118"/>
            </a:avLst>
          </a:prstGeom>
          <a:solidFill>
            <a:srgbClr val="E8F5F2"/>
          </a:solidFill>
          <a:ln w="10160">
            <a:solidFill>
              <a:srgbClr val="E8F5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04672" y="5577840"/>
            <a:ext cx="10442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GOAL   Clear test cases based on evidence — ready for team review.</a:t>
            </a:r>
            <a:endParaRPr lang="en-US" sz="1700" dirty="0"/>
          </a:p>
        </p:txBody>
      </p:sp>
      <p:pic>
        <p:nvPicPr>
          <p:cNvPr id="26" name="Picture 25" descr="document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820526"/>
            <a:ext cx="256032" cy="256032"/>
          </a:xfrm>
          <a:prstGeom prst="rect">
            <a:avLst/>
          </a:prstGeom>
        </p:spPr>
      </p:pic>
      <p:pic>
        <p:nvPicPr>
          <p:cNvPr id="27" name="Picture 26" descr="compass-176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820526"/>
            <a:ext cx="256032" cy="256032"/>
          </a:xfrm>
          <a:prstGeom prst="rect">
            <a:avLst/>
          </a:prstGeom>
        </p:spPr>
      </p:pic>
      <p:pic>
        <p:nvPicPr>
          <p:cNvPr id="28" name="Picture 27" descr="users-1769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482052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74320"/>
            <a:ext cx="6400800" cy="19236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rPr lang="en-US" sz="1100" b="1" kern="0" spc="15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484632" y="694944"/>
            <a:ext cx="11247120" cy="45397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rPr sz="2800" b="1">
                <a:latin typeface="Aptos" panose="020B0004020202020204" pitchFamily="34" charset="0"/>
              </a:rPr>
              <a:t>Two ways to start — one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35024"/>
            <a:ext cx="10972800" cy="256032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Choose the input you have. Both options follow the same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828800"/>
            <a:ext cx="1110996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7" y="1828800"/>
            <a:ext cx="68580" cy="1426464"/>
          </a:xfrm>
          <a:prstGeom prst="rect">
            <a:avLst/>
          </a:prstGeom>
          <a:solidFill>
            <a:srgbClr val="26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2029968"/>
            <a:ext cx="2715768" cy="347472"/>
          </a:xfrm>
          <a:prstGeom prst="roundRect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07692"/>
            <a:ext cx="2487168" cy="219456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pPr>
              <a:defRPr sz="1000" b="1">
                <a:solidFill>
                  <a:srgbClr val="2664E7"/>
                </a:solidFill>
                <a:latin typeface="Aptos"/>
              </a:defRPr>
            </a:pPr>
            <a:r>
              <a:t>CASE A  ·  URL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10515600" cy="384048"/>
          </a:xfrm>
          <a:prstGeom prst="rect">
            <a:avLst/>
          </a:prstGeom>
          <a:noFill/>
        </p:spPr>
        <p:txBody>
          <a:bodyPr wrap="none" lIns="0" tIns="22860" rIns="0" bIns="0">
            <a:spAutoFit/>
          </a:bodyPr>
          <a:lstStyle/>
          <a:p>
            <a:r>
              <a:rPr sz="1700" b="1">
                <a:solidFill>
                  <a:srgbClr val="142643"/>
                </a:solidFill>
                <a:latin typeface="Aptos"/>
              </a:rPr>
              <a:t>qa-gather-test-requirements &lt;app-url&gt; &lt;feature&gt;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3611880"/>
            <a:ext cx="1110996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7" y="3611880"/>
            <a:ext cx="68580" cy="1426464"/>
          </a:xfrm>
          <a:prstGeom prst="rect">
            <a:avLst/>
          </a:prstGeom>
          <a:solidFill>
            <a:srgbClr val="008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3813048"/>
            <a:ext cx="2715768" cy="347472"/>
          </a:xfrm>
          <a:prstGeom prst="roundRect">
            <a:avLst/>
          </a:prstGeom>
          <a:solidFill>
            <a:srgbClr val="E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90772"/>
            <a:ext cx="2487168" cy="219456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pPr>
              <a:defRPr sz="1000" b="1">
                <a:solidFill>
                  <a:srgbClr val="008274"/>
                </a:solidFill>
                <a:latin typeface="Aptos"/>
              </a:defRPr>
            </a:pPr>
            <a:r>
              <a:t>CASE B  ·  DOCUMENT +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270248"/>
            <a:ext cx="10515600" cy="384048"/>
          </a:xfrm>
          <a:prstGeom prst="rect">
            <a:avLst/>
          </a:prstGeom>
          <a:noFill/>
        </p:spPr>
        <p:txBody>
          <a:bodyPr wrap="none" lIns="0" tIns="22860" rIns="0" bIns="0">
            <a:spAutoFit/>
          </a:bodyPr>
          <a:lstStyle/>
          <a:p>
            <a:r>
              <a:rPr sz="1700" b="1">
                <a:solidFill>
                  <a:srgbClr val="142643"/>
                </a:solidFill>
                <a:latin typeface="Aptos"/>
              </a:rPr>
              <a:t>qa-gather-test-requirements &lt;requirements-file.md&gt; &lt;app-url&gt; &lt;feature&gt;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92240"/>
            <a:ext cx="868680" cy="22860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02 /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2898648"/>
            <a:ext cx="10451592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/>
              <a:t>Explores the real UI, checks validations, and collects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681728"/>
            <a:ext cx="10451592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/>
              <a:t>Compares the document with the real UI to find business rules and differences.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Four-Step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 → Verify evidence → Analyze → Plan → Generate test cases.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03 / 08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008101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E8F5F2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17269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17058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" y="2657325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qa-explore-real-ui</a:t>
            </a:r>
            <a:endParaRPr lang="en-US" sz="1000" b="1" dirty="0"/>
          </a:p>
        </p:txBody>
      </p:sp>
      <p:sp>
        <p:nvSpPr>
          <p:cNvPr id="11" name="Shape 9"/>
          <p:cNvSpPr/>
          <p:nvPr/>
        </p:nvSpPr>
        <p:spPr>
          <a:xfrm>
            <a:off x="3218688" y="2520165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83280" y="2008101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38728" y="217269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22776" y="217058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47872" y="2657325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</a:t>
            </a:r>
            <a:endParaRPr lang="en-US" sz="1000" b="1" dirty="0"/>
          </a:p>
        </p:txBody>
      </p:sp>
      <p:sp>
        <p:nvSpPr>
          <p:cNvPr id="16" name="Shape 14"/>
          <p:cNvSpPr/>
          <p:nvPr/>
        </p:nvSpPr>
        <p:spPr>
          <a:xfrm>
            <a:off x="6099048" y="2520165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63640" y="2008101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19088" y="217269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217058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8232" y="2657325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qa-generate-test-plan</a:t>
            </a:r>
            <a:endParaRPr lang="en-US" sz="1000" b="1" dirty="0"/>
          </a:p>
        </p:txBody>
      </p:sp>
      <p:sp>
        <p:nvSpPr>
          <p:cNvPr id="21" name="Shape 19"/>
          <p:cNvSpPr/>
          <p:nvPr/>
        </p:nvSpPr>
        <p:spPr>
          <a:xfrm>
            <a:off x="8979408" y="2520165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2008101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299448" y="2172693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83496" y="217058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08592" y="2657325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qa-generate-testcases</a:t>
            </a:r>
            <a:endParaRPr lang="en-US" sz="1000" b="1" dirty="0"/>
          </a:p>
        </p:txBody>
      </p:sp>
      <p:sp>
        <p:nvSpPr>
          <p:cNvPr id="26" name="Shape 24"/>
          <p:cNvSpPr/>
          <p:nvPr/>
        </p:nvSpPr>
        <p:spPr>
          <a:xfrm>
            <a:off x="758952" y="3507717"/>
            <a:ext cx="2148840" cy="877824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58952" y="3626589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UI evidence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001493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Gate </a:t>
            </a:r>
            <a:r>
              <a:rPr lang="en-US" sz="10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automatic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10512" y="3032229"/>
            <a:ext cx="0" cy="448056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58952" y="4678149"/>
            <a:ext cx="2194560" cy="502920"/>
          </a:xfrm>
          <a:prstGeom prst="roundRect">
            <a:avLst>
              <a:gd name="adj" fmla="val 27273"/>
            </a:avLst>
          </a:prstGeom>
          <a:solidFill>
            <a:srgbClr val="FEF0E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58952" y="4678149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→ Re-explore UI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00984" y="3553437"/>
            <a:ext cx="8275320" cy="950976"/>
          </a:xfrm>
          <a:prstGeom prst="roundRect">
            <a:avLst>
              <a:gd name="adj" fmla="val 1442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511296" y="3727173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8E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Save evidence and continue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502152" y="4111221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steps check the saved evidence again before using it.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5034765"/>
            <a:ext cx="8348472" cy="621792"/>
          </a:xfrm>
          <a:prstGeom prst="roundRect">
            <a:avLst>
              <a:gd name="adj" fmla="val 22059"/>
            </a:avLst>
          </a:prstGeom>
          <a:solidFill>
            <a:srgbClr val="E7F5F1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483864" y="5162781"/>
            <a:ext cx="7845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Outputs: UI evidence → Requirements analysis → Test plan → Test cases</a:t>
            </a:r>
            <a:endParaRPr lang="en-US" sz="1500" dirty="0"/>
          </a:p>
        </p:txBody>
      </p:sp>
      <p:pic>
        <p:nvPicPr>
          <p:cNvPr id="37" name="Picture 36" descr="eye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209269"/>
            <a:ext cx="274320" cy="274320"/>
          </a:xfrm>
          <a:prstGeom prst="rect">
            <a:avLst/>
          </a:prstGeom>
        </p:spPr>
      </p:pic>
      <p:pic>
        <p:nvPicPr>
          <p:cNvPr id="38" name="Picture 37" descr="clipboard-176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209269"/>
            <a:ext cx="274320" cy="274320"/>
          </a:xfrm>
          <a:prstGeom prst="rect">
            <a:avLst/>
          </a:prstGeom>
        </p:spPr>
      </p:pic>
      <p:pic>
        <p:nvPicPr>
          <p:cNvPr id="39" name="Picture 38" descr="list-1769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209269"/>
            <a:ext cx="274320" cy="274320"/>
          </a:xfrm>
          <a:prstGeom prst="rect">
            <a:avLst/>
          </a:prstGeom>
        </p:spPr>
      </p:pic>
      <p:pic>
        <p:nvPicPr>
          <p:cNvPr id="40" name="Picture 39" descr="filecheck-1769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1712" y="2209269"/>
            <a:ext cx="274320" cy="274320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2898648" y="3946629"/>
            <a:ext cx="402336" cy="0"/>
          </a:xfrm>
          <a:prstGeom prst="line">
            <a:avLst/>
          </a:prstGeom>
          <a:ln w="25400">
            <a:solidFill>
              <a:srgbClr val="108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3200400" y="3864333"/>
            <a:ext cx="146304" cy="164592"/>
          </a:xfrm>
          <a:prstGeom prst="chevron">
            <a:avLst/>
          </a:prstGeom>
          <a:solidFill>
            <a:srgbClr val="108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1584297"/>
            <a:ext cx="2240280" cy="301752"/>
          </a:xfrm>
          <a:prstGeom prst="roundRect">
            <a:avLst/>
          </a:prstGeom>
          <a:solidFill>
            <a:srgbClr val="E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14676E"/>
                </a:solidFill>
                <a:latin typeface="Aptos"/>
              </a:rPr>
              <a:t>1 STEP = 1 SKILL</a:t>
            </a:r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1D9279B8-1C28-D803-389F-7228C1C96E38}"/>
              </a:ext>
            </a:extLst>
          </p:cNvPr>
          <p:cNvSpPr/>
          <p:nvPr/>
        </p:nvSpPr>
        <p:spPr>
          <a:xfrm>
            <a:off x="1810512" y="4385540"/>
            <a:ext cx="0" cy="321681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 — Start with a URL only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command used for OrangeHRM / Recruitment → Vacancies.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04 / 08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11155680" cy="932688"/>
          </a:xfrm>
          <a:prstGeom prst="roundRect">
            <a:avLst>
              <a:gd name="adj" fmla="val 16854"/>
            </a:avLst>
          </a:prstGeom>
          <a:solidFill>
            <a:srgbClr val="13223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13232" y="1911095"/>
            <a:ext cx="10698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 https://opensource-demo.orangehrmlive.com/web/index.php/auth/login Vacancies with Username : Admin, Password : admin123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2926080"/>
            <a:ext cx="3803904" cy="2889504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29016" y="3218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run — URL only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29016" y="3730752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 → Review output → Type “next”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5" name="Picture 14" descr="globe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318211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B58C45-9215-FD09-EE5E-12B24E6F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B55D9EE-80BC-7210-FC14-F39FF355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227" y="349091"/>
            <a:ext cx="7677545" cy="615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9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E8998B-359A-4C45-BE8B-E0D1FC60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5B7C42-436F-48C9-7081-7191B91D3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67" y="501499"/>
            <a:ext cx="8096666" cy="58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5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B — Add a document for the same feature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URL and Vacancies feature. We only add Recruitment_Module_Requirements.md.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05 / 08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11155680" cy="932688"/>
          </a:xfrm>
          <a:prstGeom prst="roundRect">
            <a:avLst>
              <a:gd name="adj" fmla="val 16854"/>
            </a:avLst>
          </a:prstGeom>
          <a:solidFill>
            <a:srgbClr val="13223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22376" y="1911095"/>
            <a:ext cx="10652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 "</a:t>
            </a: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C:\Desktop</a:t>
            </a: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\Recruitment_Module_Requirements.md" https://opensource-demo.orangehrmlive.com/web/index.php/auth/login Vacancies with Username : Admin, Password : admin123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63840" y="2926080"/>
            <a:ext cx="3803904" cy="288950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38160" y="321868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document adds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38160" y="3730752"/>
            <a:ext cx="3200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/>
              <a:t>Compare rules with the real UI</a:t>
            </a:r>
          </a:p>
          <a:p>
            <a:r>
              <a:rPr sz="1600"/>
              <a:t>Highlight differences and open questions</a:t>
            </a:r>
          </a:p>
        </p:txBody>
      </p:sp>
      <p:pic>
        <p:nvPicPr>
          <p:cNvPr id="15" name="Picture 14" descr="files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318211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solidFill>
                  <a:srgbClr val="13223B"/>
                </a:solidFill>
                <a:latin typeface="Aptos"/>
              </a:rPr>
              <a:t>Four output files — from UI evidence to test cases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0">
                <a:solidFill>
                  <a:srgbClr val="66778D"/>
                </a:solidFill>
                <a:latin typeface="Aptos"/>
              </a:rPr>
              <a:t>Four reviewable files. The final test cases support Phase 2.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06 / 08</a:t>
            </a:r>
          </a:p>
        </p:txBody>
      </p:sp>
      <p:sp>
        <p:nvSpPr>
          <p:cNvPr id="7" name="Shape 5"/>
          <p:cNvSpPr/>
          <p:nvPr/>
        </p:nvSpPr>
        <p:spPr>
          <a:xfrm>
            <a:off x="438437" y="1783080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5318" y="193126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ui-evidence.md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82112" y="1872642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UI behavior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437" y="2532888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5318" y="268107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requirements-analysis.md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82112" y="2622450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&amp; gaps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437" y="3282696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5318" y="343087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test-plan.md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82112" y="3372258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scope &amp; priority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437" y="4032504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5318" y="418068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test-cases.md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82112" y="4122066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&amp; expected results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5093208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screenshots + manifest.json</a:t>
            </a:r>
            <a:endParaRPr lang="en-US" sz="1500" dirty="0"/>
          </a:p>
        </p:txBody>
      </p:sp>
      <p:pic>
        <p:nvPicPr>
          <p:cNvPr id="22" name="Picture 21" descr="eye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88" y="1931262"/>
            <a:ext cx="265176" cy="265176"/>
          </a:xfrm>
          <a:prstGeom prst="rect">
            <a:avLst/>
          </a:prstGeom>
        </p:spPr>
      </p:pic>
      <p:pic>
        <p:nvPicPr>
          <p:cNvPr id="23" name="Picture 22" descr="clipboard-176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388" y="2681070"/>
            <a:ext cx="265176" cy="265176"/>
          </a:xfrm>
          <a:prstGeom prst="rect">
            <a:avLst/>
          </a:prstGeom>
        </p:spPr>
      </p:pic>
      <p:pic>
        <p:nvPicPr>
          <p:cNvPr id="24" name="Picture 23" descr="list-1769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388" y="3430878"/>
            <a:ext cx="265176" cy="265176"/>
          </a:xfrm>
          <a:prstGeom prst="rect">
            <a:avLst/>
          </a:prstGeom>
        </p:spPr>
      </p:pic>
      <p:pic>
        <p:nvPicPr>
          <p:cNvPr id="25" name="Picture 24" descr="filecheck-1769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388" y="4180686"/>
            <a:ext cx="265176" cy="26517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4360" y="5870448"/>
            <a:ext cx="11009376" cy="438912"/>
          </a:xfrm>
          <a:prstGeom prst="roundRect">
            <a:avLst>
              <a:gd name="adj" fmla="val 16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0" rIns="137160" bIns="0" rtlCol="0" anchor="ctr"/>
          <a:lstStyle/>
          <a:p>
            <a:pPr algn="ctr"/>
            <a:r>
              <a:rPr sz="1300" b="1">
                <a:solidFill>
                  <a:srgbClr val="0F728B"/>
                </a:solidFill>
                <a:latin typeface="Aptos"/>
              </a:rPr>
              <a:t>PHASE 1  </a:t>
            </a:r>
            <a:r>
              <a:rPr sz="1300" b="1">
                <a:solidFill>
                  <a:srgbClr val="13223B"/>
                </a:solidFill>
                <a:latin typeface="Aptos"/>
              </a:rPr>
              <a:t>test-cases.md</a:t>
            </a:r>
            <a:r>
              <a:rPr sz="1300" b="1">
                <a:solidFill>
                  <a:srgbClr val="0F728B"/>
                </a:solidFill>
                <a:latin typeface="Aptos"/>
              </a:rPr>
              <a:t>    →    PHASE 2  </a:t>
            </a:r>
            <a:r>
              <a:rPr sz="1300" b="0">
                <a:solidFill>
                  <a:srgbClr val="13223B"/>
                </a:solidFill>
                <a:latin typeface="Aptos"/>
              </a:rPr>
              <a:t>Generate automation test scripts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latin typeface="Aptos" panose="020B0004020202020204" pitchFamily="34" charset="0"/>
              </a:rPr>
              <a:t>Two demo runs — comparison of results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Based on the generated test-cases.md files. The difference is what the cases cover, not only how many.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07 / 08</a:t>
            </a:r>
          </a:p>
        </p:txBody>
      </p:sp>
      <p:sp>
        <p:nvSpPr>
          <p:cNvPr id="7" name="Shape 5"/>
          <p:cNvSpPr/>
          <p:nvPr/>
        </p:nvSpPr>
        <p:spPr>
          <a:xfrm>
            <a:off x="512064" y="1728216"/>
            <a:ext cx="5294376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961888" y="1728216"/>
            <a:ext cx="5715000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892808"/>
            <a:ext cx="20482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cases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81528" y="1929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only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36208" y="189280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cases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0392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+ URL</a:t>
            </a:r>
            <a:endParaRPr lang="en-US" sz="1800" dirty="0"/>
          </a:p>
        </p:txBody>
      </p:sp>
      <p:pic>
        <p:nvPicPr>
          <p:cNvPr id="39" name="Picture 38" descr="globe-176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39" y="1938528"/>
            <a:ext cx="274320" cy="274320"/>
          </a:xfrm>
          <a:prstGeom prst="rect">
            <a:avLst/>
          </a:prstGeom>
        </p:spPr>
      </p:pic>
      <p:pic>
        <p:nvPicPr>
          <p:cNvPr id="40" name="Picture 39" descr="files-176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936" y="1938528"/>
            <a:ext cx="274320" cy="27432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02920" y="2980944"/>
            <a:ext cx="11155680" cy="475488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072384"/>
            <a:ext cx="2788920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3072384"/>
            <a:ext cx="3520440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URL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72384"/>
            <a:ext cx="3977639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DOCUMENT + URL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538728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3657600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Main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3657600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Covered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657600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Covered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187952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306824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UI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306824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Discovered from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306824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Compared with document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837176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4956048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Business rules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4956048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Based on observed behavior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4956048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More detailed rules from document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705856"/>
            <a:ext cx="11155680" cy="53035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4088" y="5824728"/>
            <a:ext cx="10680192" cy="301752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500" b="1">
                <a:solidFill>
                  <a:srgbClr val="0F8A83"/>
                </a:solidFill>
                <a:latin typeface="Aptos"/>
              </a:rPr>
              <a:t>KEY TAKEAWAY  •  The document adds business context, not just more test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228600"/>
            <a:ext cx="11823192" cy="6400800"/>
          </a:xfrm>
          <a:prstGeom prst="roundRect">
            <a:avLst>
              <a:gd name="adj" fmla="val 4000"/>
            </a:avLst>
          </a:prstGeom>
          <a:solidFill>
            <a:srgbClr val="F9FCFE"/>
          </a:solidFill>
          <a:ln w="10160">
            <a:solidFill>
              <a:srgbClr val="DA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76488" y="2304288"/>
            <a:ext cx="2743200" cy="2029968"/>
          </a:xfrm>
          <a:prstGeom prst="roundRect">
            <a:avLst/>
          </a:prstGeom>
          <a:solidFill>
            <a:srgbClr val="F2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27448" y="2304288"/>
            <a:ext cx="2743200" cy="2029968"/>
          </a:xfrm>
          <a:prstGeom prst="roundRect">
            <a:avLst/>
          </a:prstGeom>
          <a:solidFill>
            <a:srgbClr val="E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2304288"/>
            <a:ext cx="2743200" cy="2029968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84632"/>
            <a:ext cx="1110996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576E80"/>
                </a:solidFill>
                <a:latin typeface="Aptos"/>
              </a:rPr>
              <a:t>QA TEST PLANNING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1099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163953"/>
                </a:solidFill>
                <a:latin typeface="Aptos"/>
              </a:rPr>
              <a:t>Ready to Try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81912"/>
            <a:ext cx="111099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576E80"/>
                </a:solidFill>
                <a:latin typeface="Aptos"/>
              </a:rPr>
              <a:t>Start with a feature from your project.</a:t>
            </a:r>
          </a:p>
        </p:txBody>
      </p:sp>
      <p:pic>
        <p:nvPicPr>
          <p:cNvPr id="6" name="Picture 5" descr="v8_icon_cho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3" y="2633472"/>
            <a:ext cx="438912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59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371B4"/>
                </a:solidFill>
                <a:latin typeface="Aptos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Your feature</a:t>
            </a:r>
          </a:p>
        </p:txBody>
      </p:sp>
      <p:pic>
        <p:nvPicPr>
          <p:cNvPr id="9" name="Picture 8" descr="v8_icon_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633472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0288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929A"/>
                </a:solidFill>
                <a:latin typeface="Aptos"/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The skills</a:t>
            </a:r>
          </a:p>
        </p:txBody>
      </p:sp>
      <p:pic>
        <p:nvPicPr>
          <p:cNvPr id="12" name="Picture 11" descr="v8_icon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633472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9327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6F5FB1"/>
                </a:solidFill>
                <a:latin typeface="Aptos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With your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11247120" cy="10972"/>
          </a:xfrm>
          <a:prstGeom prst="rect">
            <a:avLst/>
          </a:prstGeom>
          <a:solidFill>
            <a:srgbClr val="C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413248"/>
            <a:ext cx="11109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163953"/>
                </a:solidFill>
                <a:latin typeface="Aptos"/>
              </a:rPr>
              <a:t>Let's improve the skills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96678"/>
            <a:ext cx="11109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chemeClr val="bg2">
                    <a:lumMod val="50000"/>
                  </a:schemeClr>
                </a:solidFill>
                <a:latin typeface="Aptos"/>
              </a:rPr>
              <a:t>Thank you! · 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1344</Words>
  <Application>Microsoft Office PowerPoint</Application>
  <PresentationFormat>Widescreen</PresentationFormat>
  <Paragraphs>180</Paragraphs>
  <Slides>10</Slides>
  <Notes>10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 Planning Skills — Team Demo v9</dc:title>
  <dc:subject>QA Skills Product Pitch</dc:subject>
  <dc:creator>QA Engineering</dc:creator>
  <cp:lastModifiedBy>ThinkPad</cp:lastModifiedBy>
  <cp:revision>26</cp:revision>
  <dcterms:created xsi:type="dcterms:W3CDTF">2026-10-24T15:12:41Z</dcterms:created>
  <dcterms:modified xsi:type="dcterms:W3CDTF">2026-10-25T16:18:43Z</dcterms:modified>
</cp:coreProperties>
</file>